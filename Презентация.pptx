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9" r:id="rId4"/>
    <p:sldId id="271" r:id="rId5"/>
    <p:sldId id="274" r:id="rId6"/>
    <p:sldId id="276" r:id="rId7"/>
    <p:sldId id="273" r:id="rId8"/>
    <p:sldId id="275" r:id="rId9"/>
    <p:sldId id="272" r:id="rId10"/>
    <p:sldId id="265" r:id="rId11"/>
    <p:sldId id="270" r:id="rId12"/>
  </p:sldIdLst>
  <p:sldSz cx="14630400" cy="8229600"/>
  <p:notesSz cx="8229600" cy="14630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59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9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338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D8687-0755-15E7-6E75-B7DD34D59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8DF095-2A41-8A6D-FA96-BB1E82F868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8E0BC7-AE62-94F0-4D9E-27308ECAB8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C65A89-D71A-0B30-DA3A-4CFEB2FAAB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7816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CAEED-A24A-5A1F-0CC9-C9C787CA6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21AB9D-20D6-DB2E-345E-C5684ABD42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78EBF8-55F1-5247-33BF-EC2240F991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C6585-5C54-7C7B-C293-FE8F442F40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3067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3EF50-43DE-8383-543C-4342B1CFC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A1F518-2C5B-603F-0BAC-E019A745D3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61B774-AE18-0D72-8279-65C4EA021D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8FE8C1-16D4-36FC-D654-73DDC0567F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1258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4A515-E487-2093-6E75-1B60987FD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8476DC-2B2B-66C1-4B68-0EB7534C49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A94AAE-48A4-2230-6451-BE7F7252F8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63E187-746F-7275-010D-B16DE11471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2544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69951-25A5-46FB-00FB-09C4091EB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8C1D8D-3746-7D82-3FA9-B8BC7F8B71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F8B0CD-937B-A1C9-BD28-B76FA363A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6EC56-5E95-95EB-64F8-522EFFE1E5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8574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58319-5CDC-502D-351F-BC5181A0D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F62E40-5E00-ECC7-B868-8DBC675C50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144E99-E4E4-A43F-FF46-CC91AEEAEE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A78CE6-2D10-C2C0-5AA9-217309F774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3600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108B44-CDBF-614A-8F6D-392DDC739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B8D557-A30F-5B6D-4E5E-6FA19C55EF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2D8530-9887-13CD-FC90-54FB14F043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58AAAA-6002-898E-5792-DA5C16EAF2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3098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5946" y="1737361"/>
            <a:ext cx="10590790" cy="3995497"/>
          </a:xfrm>
        </p:spPr>
        <p:txBody>
          <a:bodyPr anchor="b"/>
          <a:lstStyle>
            <a:lvl1pPr>
              <a:defRPr sz="864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5946" y="5732856"/>
            <a:ext cx="10590790" cy="1033704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91364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92359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8" y="3434080"/>
            <a:ext cx="10590788" cy="2298776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6" y="5732857"/>
            <a:ext cx="10590790" cy="1032480"/>
          </a:xfrm>
        </p:spPr>
        <p:txBody>
          <a:bodyPr anchor="t"/>
          <a:lstStyle>
            <a:lvl1pPr marL="0" indent="0" algn="l">
              <a:buNone/>
              <a:defRPr sz="24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93256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23975" y="2472690"/>
            <a:ext cx="5275607" cy="5034916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85392" y="2467311"/>
            <a:ext cx="5275609" cy="5040294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862139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3975" y="2286000"/>
            <a:ext cx="527560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23975" y="3017520"/>
            <a:ext cx="5275607" cy="4490086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85395" y="2286000"/>
            <a:ext cx="5275607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85395" y="3017520"/>
            <a:ext cx="5275607" cy="4490086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46688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190651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49041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4" y="1737360"/>
            <a:ext cx="4081277" cy="1737360"/>
          </a:xfrm>
        </p:spPr>
        <p:txBody>
          <a:bodyPr anchor="b"/>
          <a:lstStyle>
            <a:lvl1pPr algn="l">
              <a:defRPr sz="288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1540" y="1737360"/>
            <a:ext cx="6235196" cy="5486400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160"/>
            </a:lvl2pPr>
            <a:lvl3pPr>
              <a:defRPr sz="192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4" y="3755137"/>
            <a:ext cx="4081276" cy="3474719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83820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4689" y="2225030"/>
            <a:ext cx="6111487" cy="1889770"/>
          </a:xfrm>
        </p:spPr>
        <p:txBody>
          <a:bodyPr anchor="b">
            <a:normAutofit/>
          </a:bodyPr>
          <a:lstStyle>
            <a:lvl1pPr algn="l">
              <a:defRPr sz="432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39455" y="1371600"/>
            <a:ext cx="3840480" cy="548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4389120"/>
            <a:ext cx="6101975" cy="1645920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19657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8" y="5760704"/>
            <a:ext cx="10590788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85946" y="822960"/>
            <a:ext cx="10590790" cy="436879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7" y="6440790"/>
            <a:ext cx="10590787" cy="592454"/>
          </a:xfrm>
        </p:spPr>
        <p:txBody>
          <a:bodyPr>
            <a:normAutofit/>
          </a:bodyPr>
          <a:lstStyle>
            <a:lvl1pPr marL="0" indent="0">
              <a:buNone/>
              <a:defRPr sz="14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04324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1737360"/>
            <a:ext cx="10590791" cy="2377440"/>
          </a:xfrm>
        </p:spPr>
        <p:txBody>
          <a:bodyPr/>
          <a:lstStyle>
            <a:lvl1pPr>
              <a:defRPr sz="576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4389120"/>
            <a:ext cx="10590791" cy="2834640"/>
          </a:xfrm>
        </p:spPr>
        <p:txBody>
          <a:bodyPr anchor="ctr"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076680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762" y="1737360"/>
            <a:ext cx="9599178" cy="2788049"/>
          </a:xfrm>
        </p:spPr>
        <p:txBody>
          <a:bodyPr/>
          <a:lstStyle>
            <a:lvl1pPr>
              <a:defRPr sz="576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2316481" y="4525409"/>
            <a:ext cx="8735579" cy="410609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68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5220788"/>
            <a:ext cx="10590791" cy="2011680"/>
          </a:xfrm>
        </p:spPr>
        <p:txBody>
          <a:bodyPr anchor="ctr"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77954" y="1165504"/>
            <a:ext cx="962294" cy="234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464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96588" y="3136545"/>
            <a:ext cx="962294" cy="234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464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9246764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3749041"/>
            <a:ext cx="10590792" cy="1983816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5" y="5732857"/>
            <a:ext cx="10590791" cy="1032480"/>
          </a:xfrm>
        </p:spPr>
        <p:txBody>
          <a:bodyPr anchor="t"/>
          <a:lstStyle>
            <a:lvl1pPr marL="0" indent="0" algn="l">
              <a:buNone/>
              <a:defRPr sz="24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17768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504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9537" y="2377440"/>
            <a:ext cx="3536239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782956" y="3200400"/>
            <a:ext cx="3512820" cy="4307206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0392" y="2377440"/>
            <a:ext cx="3523489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647727" y="3200400"/>
            <a:ext cx="3536153" cy="4307206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549640" y="2377440"/>
            <a:ext cx="351853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8549640" y="3200400"/>
            <a:ext cx="3518536" cy="4307206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71370" y="2560320"/>
            <a:ext cx="0" cy="475488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8354672" y="2560320"/>
            <a:ext cx="0" cy="4760258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26493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504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956" y="5101139"/>
            <a:ext cx="3528060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82956" y="2651760"/>
            <a:ext cx="3528060" cy="18288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782956" y="5792654"/>
            <a:ext cx="3528060" cy="791027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7251" y="5101139"/>
            <a:ext cx="3516630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667249" y="2651760"/>
            <a:ext cx="3516630" cy="18288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665627" y="5792653"/>
            <a:ext cx="3521287" cy="791027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549640" y="5101139"/>
            <a:ext cx="351853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549639" y="2651760"/>
            <a:ext cx="3518536" cy="18288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8549491" y="5792650"/>
            <a:ext cx="3523196" cy="791027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4471370" y="2560320"/>
            <a:ext cx="0" cy="475488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8354672" y="2560320"/>
            <a:ext cx="0" cy="4760258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75122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256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65055" y="516256"/>
            <a:ext cx="2103121" cy="6991350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2956" y="1064897"/>
            <a:ext cx="8907779" cy="644270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68918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85037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22166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15181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8454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3203623"/>
            <a:ext cx="4844414" cy="502597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3470817"/>
            <a:ext cx="1826894" cy="2838544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0330814" y="2011680"/>
            <a:ext cx="3383280" cy="33832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9599295" y="1"/>
            <a:ext cx="1924064" cy="136968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0327054" y="7315200"/>
            <a:ext cx="1192481" cy="9144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5334" y="543262"/>
            <a:ext cx="11285668" cy="16806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3975" y="2463502"/>
            <a:ext cx="10735849" cy="5034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2186767" y="2148842"/>
            <a:ext cx="1188719" cy="3657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32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8/31/2026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10741888" y="3870357"/>
            <a:ext cx="4631754" cy="36576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32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2423049" y="354876"/>
            <a:ext cx="1005839" cy="921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336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6383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504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4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6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92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30072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4226" y="225581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5550"/>
              </a:lnSpc>
            </a:pPr>
            <a:r>
              <a:rPr lang="ru-RU" sz="4450" dirty="0">
                <a:ea typeface="DM Sans Medium" pitchFamily="34" charset="-122"/>
                <a:cs typeface="Times New Roman" panose="02020603050405020304" pitchFamily="18" charset="0"/>
              </a:rPr>
              <a:t>ПМ.02. Осуществление интеграции </a:t>
            </a:r>
          </a:p>
          <a:p>
            <a:pPr algn="ctr">
              <a:lnSpc>
                <a:spcPts val="5550"/>
              </a:lnSpc>
            </a:pPr>
            <a:r>
              <a:rPr lang="ru-RU" sz="4450" dirty="0">
                <a:ea typeface="DM Sans Medium" pitchFamily="34" charset="-122"/>
                <a:cs typeface="Times New Roman" panose="02020603050405020304" pitchFamily="18" charset="0"/>
              </a:rPr>
              <a:t>программных модулей</a:t>
            </a:r>
            <a:endParaRPr lang="en-US" sz="4450" dirty="0"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93790" y="3773738"/>
            <a:ext cx="13042821" cy="1690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AEFEF22-48A3-BF3B-9F9B-4FF913D5273D}"/>
              </a:ext>
            </a:extLst>
          </p:cNvPr>
          <p:cNvSpPr txBox="1"/>
          <p:nvPr/>
        </p:nvSpPr>
        <p:spPr>
          <a:xfrm>
            <a:off x="3941921" y="343647"/>
            <a:ext cx="7315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hangingPunct="1"/>
            <a:r>
              <a:rPr lang="ru-RU" altLang="ru-RU" sz="1800" dirty="0">
                <a:cs typeface="Times New Roman" panose="02020603050405020304" pitchFamily="18" charset="0"/>
              </a:rPr>
              <a:t>Кировское областное государственное профессиональное образовательное бюджетное учреждение</a:t>
            </a:r>
          </a:p>
          <a:p>
            <a:pPr algn="ctr" eaLnBrk="1" hangingPunct="1"/>
            <a:r>
              <a:rPr lang="ru-RU" altLang="ru-RU" sz="1800" dirty="0">
                <a:cs typeface="Times New Roman" panose="02020603050405020304" pitchFamily="18" charset="0"/>
              </a:rPr>
              <a:t>«Слободской колледж педагогики и социальных отношений»</a:t>
            </a:r>
          </a:p>
        </p:txBody>
      </p:sp>
      <p:pic>
        <p:nvPicPr>
          <p:cNvPr id="12" name="Picture 14" descr="touch-icon-ipad-retina">
            <a:extLst>
              <a:ext uri="{FF2B5EF4-FFF2-40B4-BE49-F238E27FC236}">
                <a16:creationId xmlns:a16="http://schemas.microsoft.com/office/drawing/2014/main" id="{CFBB7716-C69E-CE8F-A83F-96247B05F3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3033" y="175868"/>
            <a:ext cx="1258888" cy="1258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3">
            <a:extLst>
              <a:ext uri="{FF2B5EF4-FFF2-40B4-BE49-F238E27FC236}">
                <a16:creationId xmlns:a16="http://schemas.microsoft.com/office/drawing/2014/main" id="{03AC1DAC-A9D3-28AF-1562-5EC808D84599}"/>
              </a:ext>
            </a:extLst>
          </p:cNvPr>
          <p:cNvSpPr/>
          <p:nvPr/>
        </p:nvSpPr>
        <p:spPr>
          <a:xfrm>
            <a:off x="9041942" y="4455862"/>
            <a:ext cx="5340808" cy="30556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Выполнил:</a:t>
            </a:r>
            <a:r>
              <a:rPr lang="en-US" sz="2000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Замятин Алексей Романович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Груп</a:t>
            </a:r>
            <a:r>
              <a:rPr lang="ru-RU" sz="2000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п</a:t>
            </a:r>
            <a:r>
              <a:rPr lang="en-US" sz="2000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а 23П-</a:t>
            </a:r>
            <a:r>
              <a:rPr lang="ru-RU" sz="2000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1</a:t>
            </a:r>
            <a:r>
              <a:rPr lang="en-US" sz="2000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, специальность 09.02.07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«Информационные системы и программирование»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Форма обучения: очная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Руководитель:</a:t>
            </a:r>
            <a:r>
              <a:rPr lang="en-US" sz="2000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 </a:t>
            </a:r>
            <a:r>
              <a:rPr lang="ru-RU" sz="2000" dirty="0">
                <a:latin typeface="Times New Roman" panose="02020603050405020304" pitchFamily="18" charset="0"/>
                <a:ea typeface="Noto Sans SC" pitchFamily="34" charset="-122"/>
                <a:cs typeface="Times New Roman" panose="02020603050405020304" pitchFamily="18" charset="0"/>
              </a:rPr>
              <a:t>Седов Алексей Сергеевич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14" name="Прямоугольник 13">
            <a:extLst>
              <a:ext uri="{FF2B5EF4-FFF2-40B4-BE49-F238E27FC236}">
                <a16:creationId xmlns:a16="http://schemas.microsoft.com/office/drawing/2014/main" id="{0BC1AE8B-3CED-1BC4-8A4E-BD13479E1F75}"/>
              </a:ext>
            </a:extLst>
          </p:cNvPr>
          <p:cNvSpPr/>
          <p:nvPr/>
        </p:nvSpPr>
        <p:spPr>
          <a:xfrm>
            <a:off x="12879659" y="7704038"/>
            <a:ext cx="1750741" cy="49398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5" name="Text 5">
            <a:extLst>
              <a:ext uri="{FF2B5EF4-FFF2-40B4-BE49-F238E27FC236}">
                <a16:creationId xmlns:a16="http://schemas.microsoft.com/office/drawing/2014/main" id="{FC6919E7-B659-E6EC-7866-BAE6648C902D}"/>
              </a:ext>
            </a:extLst>
          </p:cNvPr>
          <p:cNvSpPr/>
          <p:nvPr/>
        </p:nvSpPr>
        <p:spPr>
          <a:xfrm>
            <a:off x="5836801" y="7894649"/>
            <a:ext cx="574560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ru-RU" sz="2000" dirty="0">
                <a:ea typeface="Inter" pitchFamily="34" charset="-122"/>
                <a:cs typeface="Times New Roman" panose="02020603050405020304" pitchFamily="18" charset="0"/>
              </a:rPr>
              <a:t>г.</a:t>
            </a:r>
            <a:r>
              <a:rPr lang="en-US" sz="2000" dirty="0">
                <a:ea typeface="Inter" pitchFamily="34" charset="-122"/>
                <a:cs typeface="Times New Roman" panose="02020603050405020304" pitchFamily="18" charset="0"/>
              </a:rPr>
              <a:t>Слободской</a:t>
            </a:r>
            <a:r>
              <a:rPr lang="ru-RU" sz="2000" dirty="0">
                <a:ea typeface="Inter" pitchFamily="34" charset="-122"/>
                <a:cs typeface="Times New Roman" panose="02020603050405020304" pitchFamily="18" charset="0"/>
              </a:rPr>
              <a:t> 2026г.</a:t>
            </a:r>
            <a:endParaRPr lang="en-US" sz="2000" dirty="0"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49395-DEF2-7E73-E27A-E7F65D608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ext 2">
            <a:extLst>
              <a:ext uri="{FF2B5EF4-FFF2-40B4-BE49-F238E27FC236}">
                <a16:creationId xmlns:a16="http://schemas.microsoft.com/office/drawing/2014/main" id="{1E3AB582-F5E6-79DA-F84E-8E9F783F167C}"/>
              </a:ext>
            </a:extLst>
          </p:cNvPr>
          <p:cNvSpPr/>
          <p:nvPr/>
        </p:nvSpPr>
        <p:spPr>
          <a:xfrm>
            <a:off x="662821" y="674966"/>
            <a:ext cx="6317218" cy="664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Цели и задачи практики</a:t>
            </a:r>
            <a:endParaRPr lang="en-US" sz="4150" dirty="0">
              <a:cs typeface="Times New Roman" panose="02020603050405020304" pitchFamily="18" charset="0"/>
            </a:endParaRPr>
          </a:p>
        </p:txBody>
      </p:sp>
      <p:sp>
        <p:nvSpPr>
          <p:cNvPr id="51" name="Text 3">
            <a:extLst>
              <a:ext uri="{FF2B5EF4-FFF2-40B4-BE49-F238E27FC236}">
                <a16:creationId xmlns:a16="http://schemas.microsoft.com/office/drawing/2014/main" id="{2318FCBB-D1C7-C729-7E32-DAB7FBF6C21D}"/>
              </a:ext>
            </a:extLst>
          </p:cNvPr>
          <p:cNvSpPr/>
          <p:nvPr/>
        </p:nvSpPr>
        <p:spPr>
          <a:xfrm>
            <a:off x="803612" y="1915072"/>
            <a:ext cx="13141881" cy="1457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r>
              <a:rPr lang="ru-RU" sz="2800" b="1" dirty="0">
                <a:ea typeface="Inter" pitchFamily="34" charset="-122"/>
                <a:cs typeface="Times New Roman" panose="02020603050405020304" pitchFamily="18" charset="0"/>
              </a:rPr>
              <a:t>Цель практики:</a:t>
            </a:r>
          </a:p>
          <a:p>
            <a:pPr>
              <a:lnSpc>
                <a:spcPts val="2550"/>
              </a:lnSpc>
            </a:pPr>
            <a:r>
              <a:rPr lang="ru-RU" sz="2800" dirty="0">
                <a:ea typeface="Inter" pitchFamily="34" charset="-122"/>
                <a:cs typeface="Times New Roman" panose="02020603050405020304" pitchFamily="18" charset="0"/>
              </a:rPr>
              <a:t>Получение практических навыков разработки и интеграции программных модулей на примере создания информационной системы учёта добычи газа. </a:t>
            </a:r>
            <a:endParaRPr lang="en-US" sz="2800" dirty="0">
              <a:cs typeface="Times New Roman" panose="02020603050405020304" pitchFamily="18" charset="0"/>
            </a:endParaRPr>
          </a:p>
        </p:txBody>
      </p:sp>
      <p:sp>
        <p:nvSpPr>
          <p:cNvPr id="52" name="Shape 4">
            <a:extLst>
              <a:ext uri="{FF2B5EF4-FFF2-40B4-BE49-F238E27FC236}">
                <a16:creationId xmlns:a16="http://schemas.microsoft.com/office/drawing/2014/main" id="{8174C31B-F5E3-CD8E-1B69-47DEC01EBC0A}"/>
              </a:ext>
            </a:extLst>
          </p:cNvPr>
          <p:cNvSpPr/>
          <p:nvPr/>
        </p:nvSpPr>
        <p:spPr>
          <a:xfrm>
            <a:off x="1192751" y="3466063"/>
            <a:ext cx="4047873" cy="1777604"/>
          </a:xfrm>
          <a:prstGeom prst="roundRect">
            <a:avLst>
              <a:gd name="adj" fmla="val 1446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53" name="Shape 5">
            <a:extLst>
              <a:ext uri="{FF2B5EF4-FFF2-40B4-BE49-F238E27FC236}">
                <a16:creationId xmlns:a16="http://schemas.microsoft.com/office/drawing/2014/main" id="{AA9B2007-07D8-0ED3-7F2A-EDB0FCE11527}"/>
              </a:ext>
            </a:extLst>
          </p:cNvPr>
          <p:cNvSpPr/>
          <p:nvPr/>
        </p:nvSpPr>
        <p:spPr>
          <a:xfrm>
            <a:off x="1215611" y="3488922"/>
            <a:ext cx="4025013" cy="637937"/>
          </a:xfrm>
          <a:prstGeom prst="roundRect">
            <a:avLst>
              <a:gd name="adj" fmla="val 7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54" name="Text 6">
            <a:extLst>
              <a:ext uri="{FF2B5EF4-FFF2-40B4-BE49-F238E27FC236}">
                <a16:creationId xmlns:a16="http://schemas.microsoft.com/office/drawing/2014/main" id="{4F8186A6-24BF-5373-A3C4-EA84A20F6626}"/>
              </a:ext>
            </a:extLst>
          </p:cNvPr>
          <p:cNvSpPr/>
          <p:nvPr/>
        </p:nvSpPr>
        <p:spPr>
          <a:xfrm>
            <a:off x="3068633" y="3646681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5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1</a:t>
            </a:r>
            <a:endParaRPr lang="en-US" sz="2500" dirty="0">
              <a:cs typeface="Times New Roman" panose="02020603050405020304" pitchFamily="18" charset="0"/>
            </a:endParaRPr>
          </a:p>
        </p:txBody>
      </p:sp>
      <p:sp>
        <p:nvSpPr>
          <p:cNvPr id="72" name="Shape 1">
            <a:extLst>
              <a:ext uri="{FF2B5EF4-FFF2-40B4-BE49-F238E27FC236}">
                <a16:creationId xmlns:a16="http://schemas.microsoft.com/office/drawing/2014/main" id="{EB2A624B-6247-A7CF-174A-E9060BBCEEDF}"/>
              </a:ext>
            </a:extLst>
          </p:cNvPr>
          <p:cNvSpPr/>
          <p:nvPr/>
        </p:nvSpPr>
        <p:spPr>
          <a:xfrm>
            <a:off x="744260" y="1515554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 useBgFill="1">
        <p:nvSpPr>
          <p:cNvPr id="73" name="Прямоугольник 72">
            <a:extLst>
              <a:ext uri="{FF2B5EF4-FFF2-40B4-BE49-F238E27FC236}">
                <a16:creationId xmlns:a16="http://schemas.microsoft.com/office/drawing/2014/main" id="{A6894351-1C6F-E7BC-2F4D-C6FCE580C871}"/>
              </a:ext>
            </a:extLst>
          </p:cNvPr>
          <p:cNvSpPr/>
          <p:nvPr/>
        </p:nvSpPr>
        <p:spPr>
          <a:xfrm>
            <a:off x="12850987" y="7717032"/>
            <a:ext cx="1750741" cy="5125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3" name="Shape 4">
            <a:extLst>
              <a:ext uri="{FF2B5EF4-FFF2-40B4-BE49-F238E27FC236}">
                <a16:creationId xmlns:a16="http://schemas.microsoft.com/office/drawing/2014/main" id="{ACAE3387-D42F-9DC4-D2EC-D13E01A8C3A1}"/>
              </a:ext>
            </a:extLst>
          </p:cNvPr>
          <p:cNvSpPr/>
          <p:nvPr/>
        </p:nvSpPr>
        <p:spPr>
          <a:xfrm>
            <a:off x="5263484" y="3466063"/>
            <a:ext cx="4047873" cy="1777604"/>
          </a:xfrm>
          <a:prstGeom prst="roundRect">
            <a:avLst>
              <a:gd name="adj" fmla="val 1446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D9E5C1D2-4C7A-8DE0-DDFE-E21C2599E461}"/>
              </a:ext>
            </a:extLst>
          </p:cNvPr>
          <p:cNvSpPr/>
          <p:nvPr/>
        </p:nvSpPr>
        <p:spPr>
          <a:xfrm>
            <a:off x="5286344" y="3488922"/>
            <a:ext cx="4025013" cy="637937"/>
          </a:xfrm>
          <a:prstGeom prst="roundRect">
            <a:avLst>
              <a:gd name="adj" fmla="val 7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E525DA68-9BCD-D456-F3B5-805A6DD150A5}"/>
              </a:ext>
            </a:extLst>
          </p:cNvPr>
          <p:cNvSpPr/>
          <p:nvPr/>
        </p:nvSpPr>
        <p:spPr>
          <a:xfrm>
            <a:off x="7139366" y="3646681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ru-RU" sz="2500" dirty="0">
                <a:solidFill>
                  <a:srgbClr val="161613"/>
                </a:solidFill>
                <a:cs typeface="Times New Roman" panose="02020603050405020304" pitchFamily="18" charset="0"/>
              </a:rPr>
              <a:t>2</a:t>
            </a:r>
            <a:endParaRPr lang="en-US" sz="2500" dirty="0">
              <a:cs typeface="Times New Roman" panose="02020603050405020304" pitchFamily="18" charset="0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F385C98E-513B-7AE9-8DB5-24EE5636EAD2}"/>
              </a:ext>
            </a:extLst>
          </p:cNvPr>
          <p:cNvSpPr/>
          <p:nvPr/>
        </p:nvSpPr>
        <p:spPr>
          <a:xfrm>
            <a:off x="9311356" y="3466063"/>
            <a:ext cx="4047873" cy="1777604"/>
          </a:xfrm>
          <a:prstGeom prst="roundRect">
            <a:avLst>
              <a:gd name="adj" fmla="val 1446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5F1D2A79-36FD-1FDA-166A-0577D89AF8CA}"/>
              </a:ext>
            </a:extLst>
          </p:cNvPr>
          <p:cNvSpPr/>
          <p:nvPr/>
        </p:nvSpPr>
        <p:spPr>
          <a:xfrm>
            <a:off x="9334216" y="3488922"/>
            <a:ext cx="4025013" cy="637937"/>
          </a:xfrm>
          <a:prstGeom prst="roundRect">
            <a:avLst>
              <a:gd name="adj" fmla="val 7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41D33B76-AAF3-FD68-E0AE-8040F68A3311}"/>
              </a:ext>
            </a:extLst>
          </p:cNvPr>
          <p:cNvSpPr/>
          <p:nvPr/>
        </p:nvSpPr>
        <p:spPr>
          <a:xfrm>
            <a:off x="11187238" y="3646681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ru-RU" sz="2500" dirty="0">
                <a:solidFill>
                  <a:srgbClr val="161613"/>
                </a:solidFill>
                <a:cs typeface="Times New Roman" panose="02020603050405020304" pitchFamily="18" charset="0"/>
              </a:rPr>
              <a:t>3</a:t>
            </a:r>
            <a:endParaRPr lang="en-US" sz="2500" dirty="0">
              <a:cs typeface="Times New Roman" panose="02020603050405020304" pitchFamily="18" charset="0"/>
            </a:endParaRPr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36646CBB-9CDF-E410-A554-8F4CD33ACAAF}"/>
              </a:ext>
            </a:extLst>
          </p:cNvPr>
          <p:cNvSpPr/>
          <p:nvPr/>
        </p:nvSpPr>
        <p:spPr>
          <a:xfrm>
            <a:off x="1192751" y="5243667"/>
            <a:ext cx="4047873" cy="1777604"/>
          </a:xfrm>
          <a:prstGeom prst="roundRect">
            <a:avLst>
              <a:gd name="adj" fmla="val 1446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7" name="Shape 5">
            <a:extLst>
              <a:ext uri="{FF2B5EF4-FFF2-40B4-BE49-F238E27FC236}">
                <a16:creationId xmlns:a16="http://schemas.microsoft.com/office/drawing/2014/main" id="{A4392D28-B31B-9173-C503-81744AFCE2F6}"/>
              </a:ext>
            </a:extLst>
          </p:cNvPr>
          <p:cNvSpPr/>
          <p:nvPr/>
        </p:nvSpPr>
        <p:spPr>
          <a:xfrm>
            <a:off x="1215611" y="5266526"/>
            <a:ext cx="4025013" cy="637937"/>
          </a:xfrm>
          <a:prstGeom prst="roundRect">
            <a:avLst>
              <a:gd name="adj" fmla="val 7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6E8E63B6-9D58-92E7-3B5A-D745B3E1E150}"/>
              </a:ext>
            </a:extLst>
          </p:cNvPr>
          <p:cNvSpPr/>
          <p:nvPr/>
        </p:nvSpPr>
        <p:spPr>
          <a:xfrm>
            <a:off x="3068633" y="5424285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ru-RU" sz="25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4</a:t>
            </a:r>
            <a:endParaRPr lang="en-US" sz="2500" dirty="0">
              <a:cs typeface="Times New Roman" panose="02020603050405020304" pitchFamily="18" charset="0"/>
            </a:endParaRPr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9F05DB34-7972-EA5A-B7C6-0DA207AF14A3}"/>
              </a:ext>
            </a:extLst>
          </p:cNvPr>
          <p:cNvSpPr/>
          <p:nvPr/>
        </p:nvSpPr>
        <p:spPr>
          <a:xfrm>
            <a:off x="5240623" y="5243667"/>
            <a:ext cx="4047873" cy="1777604"/>
          </a:xfrm>
          <a:prstGeom prst="roundRect">
            <a:avLst>
              <a:gd name="adj" fmla="val 1446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EB115FEC-DA01-F809-BE52-B93D6939A581}"/>
              </a:ext>
            </a:extLst>
          </p:cNvPr>
          <p:cNvSpPr/>
          <p:nvPr/>
        </p:nvSpPr>
        <p:spPr>
          <a:xfrm>
            <a:off x="5263483" y="5266526"/>
            <a:ext cx="4025013" cy="637937"/>
          </a:xfrm>
          <a:prstGeom prst="roundRect">
            <a:avLst>
              <a:gd name="adj" fmla="val 7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F683EC99-B2B8-6585-FFD1-DAC467074943}"/>
              </a:ext>
            </a:extLst>
          </p:cNvPr>
          <p:cNvSpPr/>
          <p:nvPr/>
        </p:nvSpPr>
        <p:spPr>
          <a:xfrm>
            <a:off x="7116505" y="5424285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ru-RU" sz="25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5</a:t>
            </a:r>
            <a:endParaRPr lang="en-US" sz="2500" dirty="0">
              <a:cs typeface="Times New Roman" panose="02020603050405020304" pitchFamily="18" charset="0"/>
            </a:endParaRPr>
          </a:p>
        </p:txBody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1ABB4387-85EE-FF7A-93E1-FBBE97676025}"/>
              </a:ext>
            </a:extLst>
          </p:cNvPr>
          <p:cNvSpPr/>
          <p:nvPr/>
        </p:nvSpPr>
        <p:spPr>
          <a:xfrm>
            <a:off x="9311357" y="5243667"/>
            <a:ext cx="4047873" cy="1777604"/>
          </a:xfrm>
          <a:prstGeom prst="roundRect">
            <a:avLst>
              <a:gd name="adj" fmla="val 1446"/>
            </a:avLst>
          </a:prstGeom>
          <a:solidFill>
            <a:srgbClr val="F9F8F5"/>
          </a:solidFill>
          <a:ln w="22860">
            <a:solidFill>
              <a:srgbClr val="D3D1C9"/>
            </a:solidFill>
            <a:prstDash val="solid"/>
          </a:ln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29" name="Shape 5">
            <a:extLst>
              <a:ext uri="{FF2B5EF4-FFF2-40B4-BE49-F238E27FC236}">
                <a16:creationId xmlns:a16="http://schemas.microsoft.com/office/drawing/2014/main" id="{4778C894-79B8-A50C-509C-87E4F694FB8A}"/>
              </a:ext>
            </a:extLst>
          </p:cNvPr>
          <p:cNvSpPr/>
          <p:nvPr/>
        </p:nvSpPr>
        <p:spPr>
          <a:xfrm>
            <a:off x="9334217" y="5266526"/>
            <a:ext cx="4025013" cy="637937"/>
          </a:xfrm>
          <a:prstGeom prst="roundRect">
            <a:avLst>
              <a:gd name="adj" fmla="val 7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5AEE34A4-E196-2375-FF45-D307E0785F8A}"/>
              </a:ext>
            </a:extLst>
          </p:cNvPr>
          <p:cNvSpPr/>
          <p:nvPr/>
        </p:nvSpPr>
        <p:spPr>
          <a:xfrm>
            <a:off x="11187239" y="5424285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ru-RU" sz="2500" dirty="0">
                <a:solidFill>
                  <a:srgbClr val="161613"/>
                </a:solidFill>
                <a:cs typeface="Times New Roman" panose="02020603050405020304" pitchFamily="18" charset="0"/>
              </a:rPr>
              <a:t>6</a:t>
            </a:r>
            <a:endParaRPr lang="en-US" sz="2500" dirty="0">
              <a:cs typeface="Times New Roman" panose="02020603050405020304" pitchFamily="18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5D68C50-C35D-8144-5F29-94D86C85EB40}"/>
              </a:ext>
            </a:extLst>
          </p:cNvPr>
          <p:cNvSpPr txBox="1"/>
          <p:nvPr/>
        </p:nvSpPr>
        <p:spPr>
          <a:xfrm>
            <a:off x="1271171" y="4244699"/>
            <a:ext cx="3314793" cy="8309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400" dirty="0"/>
              <a:t>Анализ предметной области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AEF3C8C-0D7A-E4E7-7A67-CC1ADE049543}"/>
              </a:ext>
            </a:extLst>
          </p:cNvPr>
          <p:cNvSpPr txBox="1"/>
          <p:nvPr/>
        </p:nvSpPr>
        <p:spPr>
          <a:xfrm>
            <a:off x="5299976" y="4219994"/>
            <a:ext cx="3314793" cy="8309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400" dirty="0"/>
              <a:t>Проектирование </a:t>
            </a:r>
            <a:r>
              <a:rPr lang="en-US" sz="2400" dirty="0"/>
              <a:t>UML </a:t>
            </a:r>
            <a:r>
              <a:rPr lang="ru-RU" sz="2400" dirty="0"/>
              <a:t>и </a:t>
            </a:r>
            <a:r>
              <a:rPr lang="en-US" sz="2400" dirty="0"/>
              <a:t>ERD</a:t>
            </a:r>
            <a:endParaRPr lang="ru-RU" sz="24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9BFC94-2F18-2626-66F6-9C6C6578757A}"/>
              </a:ext>
            </a:extLst>
          </p:cNvPr>
          <p:cNvSpPr txBox="1"/>
          <p:nvPr/>
        </p:nvSpPr>
        <p:spPr>
          <a:xfrm>
            <a:off x="1219498" y="5943541"/>
            <a:ext cx="3988521" cy="8309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400" dirty="0"/>
              <a:t>Разработка приложение на C# WPF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FC30A1-92D8-E30F-EC10-32E8DEAD699A}"/>
              </a:ext>
            </a:extLst>
          </p:cNvPr>
          <p:cNvSpPr txBox="1"/>
          <p:nvPr/>
        </p:nvSpPr>
        <p:spPr>
          <a:xfrm>
            <a:off x="5299976" y="5980665"/>
            <a:ext cx="3644519" cy="8309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400" dirty="0"/>
              <a:t>Реализация интеграции с API 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6A3850F-7F5D-6B8D-8368-C2234EEE60FF}"/>
              </a:ext>
            </a:extLst>
          </p:cNvPr>
          <p:cNvSpPr txBox="1"/>
          <p:nvPr/>
        </p:nvSpPr>
        <p:spPr>
          <a:xfrm>
            <a:off x="9334216" y="4234066"/>
            <a:ext cx="3903319" cy="8309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400" dirty="0"/>
              <a:t>Создание БД в MS SQL Server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35D7DA1-5007-C251-09E2-6C3EE7B61EC6}"/>
              </a:ext>
            </a:extLst>
          </p:cNvPr>
          <p:cNvSpPr txBox="1"/>
          <p:nvPr/>
        </p:nvSpPr>
        <p:spPr>
          <a:xfrm>
            <a:off x="9347848" y="6011670"/>
            <a:ext cx="3314793" cy="8309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sz="2400" dirty="0"/>
              <a:t>Реализация </a:t>
            </a:r>
            <a:r>
              <a:rPr lang="en-US" sz="2400" dirty="0"/>
              <a:t>CRUD-</a:t>
            </a:r>
            <a:r>
              <a:rPr lang="ru-RU" sz="2400" dirty="0"/>
              <a:t>операций</a:t>
            </a:r>
          </a:p>
        </p:txBody>
      </p:sp>
    </p:spTree>
    <p:extLst>
      <p:ext uri="{BB962C8B-B14F-4D97-AF65-F5344CB8AC3E}">
        <p14:creationId xmlns:p14="http://schemas.microsoft.com/office/powerpoint/2010/main" val="2483513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2">
            <a:extLst>
              <a:ext uri="{FF2B5EF4-FFF2-40B4-BE49-F238E27FC236}">
                <a16:creationId xmlns:a16="http://schemas.microsoft.com/office/drawing/2014/main" id="{FEC2C6D4-FD92-3DAF-1D37-5EEE4E8C3080}"/>
              </a:ext>
            </a:extLst>
          </p:cNvPr>
          <p:cNvSpPr/>
          <p:nvPr/>
        </p:nvSpPr>
        <p:spPr>
          <a:xfrm>
            <a:off x="761047" y="563922"/>
            <a:ext cx="5347335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800"/>
              </a:lnSpc>
            </a:pPr>
            <a:r>
              <a:rPr lang="ru-RU" sz="40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Анализ предметной области</a:t>
            </a:r>
            <a:endParaRPr lang="en-US" sz="4000" dirty="0">
              <a:cs typeface="Times New Roman" panose="02020603050405020304" pitchFamily="18" charset="0"/>
            </a:endParaRPr>
          </a:p>
        </p:txBody>
      </p:sp>
      <p:sp useBgFill="1">
        <p:nvSpPr>
          <p:cNvPr id="18" name="Прямоугольник 17">
            <a:extLst>
              <a:ext uri="{FF2B5EF4-FFF2-40B4-BE49-F238E27FC236}">
                <a16:creationId xmlns:a16="http://schemas.microsoft.com/office/drawing/2014/main" id="{8BEA2EEA-92CC-C840-E7B5-7857A0C262E4}"/>
              </a:ext>
            </a:extLst>
          </p:cNvPr>
          <p:cNvSpPr/>
          <p:nvPr/>
        </p:nvSpPr>
        <p:spPr>
          <a:xfrm>
            <a:off x="12879658" y="7625283"/>
            <a:ext cx="1750741" cy="60431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9C7DC9B3-8D33-1D10-F1A8-CAD0E020E33F}"/>
              </a:ext>
            </a:extLst>
          </p:cNvPr>
          <p:cNvSpPr/>
          <p:nvPr/>
        </p:nvSpPr>
        <p:spPr>
          <a:xfrm>
            <a:off x="761047" y="1205032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1010AF-8172-9FB9-90E1-2C6412855CD3}"/>
              </a:ext>
            </a:extLst>
          </p:cNvPr>
          <p:cNvSpPr txBox="1"/>
          <p:nvPr/>
        </p:nvSpPr>
        <p:spPr>
          <a:xfrm>
            <a:off x="665353" y="1243072"/>
            <a:ext cx="731520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Предметная область</a:t>
            </a:r>
            <a:r>
              <a:rPr lang="ru-RU" sz="2800" dirty="0"/>
              <a:t>: учёт добычи газа в компании </a:t>
            </a:r>
            <a:r>
              <a:rPr lang="en-US" sz="2800" dirty="0"/>
              <a:t>“</a:t>
            </a:r>
            <a:r>
              <a:rPr lang="ru-RU" sz="2800" dirty="0"/>
              <a:t>Газпром</a:t>
            </a:r>
            <a:r>
              <a:rPr lang="en-US" sz="2800" dirty="0"/>
              <a:t>”</a:t>
            </a:r>
            <a:endParaRPr lang="ru-RU" sz="2800" dirty="0"/>
          </a:p>
          <a:p>
            <a:r>
              <a:rPr lang="ru-RU" sz="2800" b="1" dirty="0"/>
              <a:t>Основные бизнес-процессы</a:t>
            </a:r>
            <a:r>
              <a:rPr lang="ru-RU" sz="2800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Регистрация скважин и месторождений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Ввод суточных замеров добычи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Регистрация технического обслуживания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Формирование отчётности</a:t>
            </a:r>
          </a:p>
          <a:p>
            <a:r>
              <a:rPr lang="ru-RU" sz="2800" b="1" dirty="0"/>
              <a:t>Сущности</a:t>
            </a:r>
            <a:r>
              <a:rPr lang="ru-RU" sz="2800" dirty="0"/>
              <a:t>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Инженер по добыче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Оператор по обслуживания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Администратор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Скважина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Замер добычи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Техническое обслуживание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214776B-533D-1458-CBAE-0958656D6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3527" y="2105247"/>
            <a:ext cx="7428000" cy="53475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B7FDD-B3DD-F460-EE15-2FEA8165E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2">
            <a:extLst>
              <a:ext uri="{FF2B5EF4-FFF2-40B4-BE49-F238E27FC236}">
                <a16:creationId xmlns:a16="http://schemas.microsoft.com/office/drawing/2014/main" id="{6382DBF4-6E11-219A-8913-3BBEA8B7270E}"/>
              </a:ext>
            </a:extLst>
          </p:cNvPr>
          <p:cNvSpPr/>
          <p:nvPr/>
        </p:nvSpPr>
        <p:spPr>
          <a:xfrm>
            <a:off x="761047" y="563922"/>
            <a:ext cx="5347335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800"/>
              </a:lnSpc>
            </a:pPr>
            <a:r>
              <a:rPr lang="en-US" sz="40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ER-</a:t>
            </a:r>
            <a:r>
              <a:rPr lang="ru-RU" sz="40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диаграмма базы данных</a:t>
            </a:r>
            <a:endParaRPr lang="en-US" sz="4000" dirty="0">
              <a:cs typeface="Times New Roman" panose="02020603050405020304" pitchFamily="18" charset="0"/>
            </a:endParaRPr>
          </a:p>
        </p:txBody>
      </p:sp>
      <p:sp useBgFill="1">
        <p:nvSpPr>
          <p:cNvPr id="18" name="Прямоугольник 17">
            <a:extLst>
              <a:ext uri="{FF2B5EF4-FFF2-40B4-BE49-F238E27FC236}">
                <a16:creationId xmlns:a16="http://schemas.microsoft.com/office/drawing/2014/main" id="{82CF8831-49B5-35B1-54C5-085B2C00BA88}"/>
              </a:ext>
            </a:extLst>
          </p:cNvPr>
          <p:cNvSpPr/>
          <p:nvPr/>
        </p:nvSpPr>
        <p:spPr>
          <a:xfrm>
            <a:off x="12879658" y="7625283"/>
            <a:ext cx="1750741" cy="60431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E033E37E-32D6-569E-4E4D-E409962F9D3E}"/>
              </a:ext>
            </a:extLst>
          </p:cNvPr>
          <p:cNvSpPr/>
          <p:nvPr/>
        </p:nvSpPr>
        <p:spPr>
          <a:xfrm>
            <a:off x="761047" y="1205032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A94EF5-E12B-7EA5-A40F-B5DCE0FB41E8}"/>
              </a:ext>
            </a:extLst>
          </p:cNvPr>
          <p:cNvSpPr txBox="1"/>
          <p:nvPr/>
        </p:nvSpPr>
        <p:spPr>
          <a:xfrm>
            <a:off x="557847" y="1533118"/>
            <a:ext cx="6117479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СУБД</a:t>
            </a:r>
            <a:r>
              <a:rPr lang="ru-RU" sz="2800" dirty="0"/>
              <a:t>: Microsoft SQL Server</a:t>
            </a:r>
          </a:p>
          <a:p>
            <a:endParaRPr lang="ru-RU" sz="2800" dirty="0"/>
          </a:p>
          <a:p>
            <a:r>
              <a:rPr lang="ru-RU" sz="2800" b="1" dirty="0"/>
              <a:t>6 таблиц: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Users (</a:t>
            </a:r>
            <a:r>
              <a:rPr lang="ru-RU" sz="2800" dirty="0"/>
              <a:t>Пользователи</a:t>
            </a:r>
            <a:r>
              <a:rPr lang="en-US" sz="2800" dirty="0"/>
              <a:t>)</a:t>
            </a:r>
            <a:endParaRPr lang="ru-RU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Fields (</a:t>
            </a:r>
            <a:r>
              <a:rPr lang="ru-RU" sz="2800" dirty="0"/>
              <a:t>Месторождения</a:t>
            </a:r>
            <a:r>
              <a:rPr lang="en-US" sz="2800" dirty="0"/>
              <a:t>)</a:t>
            </a:r>
            <a:endParaRPr lang="ru-RU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Wells (</a:t>
            </a:r>
            <a:r>
              <a:rPr lang="ru-RU" sz="2800" dirty="0"/>
              <a:t>Скважины</a:t>
            </a:r>
            <a:r>
              <a:rPr lang="en-US" sz="2800" dirty="0"/>
              <a:t>)</a:t>
            </a:r>
            <a:endParaRPr lang="ru-RU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WellMeasurements</a:t>
            </a:r>
            <a:r>
              <a:rPr lang="en-US" sz="2800" dirty="0"/>
              <a:t> (</a:t>
            </a:r>
            <a:r>
              <a:rPr lang="ru-RU" sz="2800" dirty="0"/>
              <a:t>Замеры</a:t>
            </a:r>
            <a:r>
              <a:rPr lang="en-US" sz="2800" dirty="0"/>
              <a:t>)</a:t>
            </a:r>
            <a:endParaRPr lang="ru-RU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Maintenance (</a:t>
            </a:r>
            <a:r>
              <a:rPr lang="ru-RU" sz="2800" dirty="0"/>
              <a:t>Обслуживание</a:t>
            </a:r>
            <a:r>
              <a:rPr lang="en-US" sz="2800" dirty="0"/>
              <a:t>)</a:t>
            </a:r>
            <a:endParaRPr lang="ru-RU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GasPrices</a:t>
            </a:r>
            <a:r>
              <a:rPr lang="en-US" sz="2800" dirty="0"/>
              <a:t> (</a:t>
            </a:r>
            <a:r>
              <a:rPr lang="ru-RU" sz="2800" dirty="0"/>
              <a:t>Цены на газ</a:t>
            </a:r>
            <a:r>
              <a:rPr lang="en-US" sz="2800" dirty="0"/>
              <a:t>)</a:t>
            </a:r>
            <a:endParaRPr lang="ru-RU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2800" dirty="0"/>
          </a:p>
          <a:p>
            <a:r>
              <a:rPr lang="ru-RU" sz="2800" b="1" dirty="0"/>
              <a:t>Связи</a:t>
            </a:r>
            <a:r>
              <a:rPr lang="ru-RU" sz="2800" dirty="0"/>
              <a:t>: 1 : M (Один ко многим)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085BC05-CA17-77DA-5E00-4CAC080C0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326" y="1294041"/>
            <a:ext cx="7955073" cy="6935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91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0DD88-20D1-46CB-94AD-E1DD8C457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2">
            <a:extLst>
              <a:ext uri="{FF2B5EF4-FFF2-40B4-BE49-F238E27FC236}">
                <a16:creationId xmlns:a16="http://schemas.microsoft.com/office/drawing/2014/main" id="{EA5761F7-E652-9FAA-2BC2-F04A85B5C2E2}"/>
              </a:ext>
            </a:extLst>
          </p:cNvPr>
          <p:cNvSpPr/>
          <p:nvPr/>
        </p:nvSpPr>
        <p:spPr>
          <a:xfrm>
            <a:off x="761047" y="563922"/>
            <a:ext cx="5347335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800"/>
              </a:lnSpc>
            </a:pPr>
            <a:r>
              <a:rPr lang="ru-RU" sz="40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Приложение (</a:t>
            </a:r>
            <a:r>
              <a:rPr lang="en-US" sz="40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WPF)</a:t>
            </a:r>
            <a:endParaRPr lang="en-US" sz="4000" dirty="0">
              <a:cs typeface="Times New Roman" panose="02020603050405020304" pitchFamily="18" charset="0"/>
            </a:endParaRPr>
          </a:p>
        </p:txBody>
      </p:sp>
      <p:sp useBgFill="1"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2D5258A-E460-1C2A-A446-FC0CD594E89F}"/>
              </a:ext>
            </a:extLst>
          </p:cNvPr>
          <p:cNvSpPr/>
          <p:nvPr/>
        </p:nvSpPr>
        <p:spPr>
          <a:xfrm>
            <a:off x="12879658" y="7625283"/>
            <a:ext cx="1750741" cy="60431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64A72BA8-8F2A-8C69-FDD8-7ACE6CCA693F}"/>
              </a:ext>
            </a:extLst>
          </p:cNvPr>
          <p:cNvSpPr/>
          <p:nvPr/>
        </p:nvSpPr>
        <p:spPr>
          <a:xfrm>
            <a:off x="761047" y="1205032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1AE76E-7189-0234-525F-B4CB3F73601C}"/>
              </a:ext>
            </a:extLst>
          </p:cNvPr>
          <p:cNvSpPr txBox="1"/>
          <p:nvPr/>
        </p:nvSpPr>
        <p:spPr>
          <a:xfrm>
            <a:off x="761047" y="1394895"/>
            <a:ext cx="6909753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Реализовано</a:t>
            </a:r>
            <a:r>
              <a:rPr lang="ru-RU" sz="2800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Окно авторизации с разграничением ролей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Главное окно приложения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CRUD-операции (добавление, просмотр, редактирование, удаление)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Регистрация новых пользователей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Интеграция с внешним </a:t>
            </a:r>
            <a:r>
              <a:rPr lang="en-US" sz="2800" dirty="0"/>
              <a:t>API</a:t>
            </a:r>
            <a:endParaRPr lang="ru-RU" sz="2800" dirty="0"/>
          </a:p>
          <a:p>
            <a:r>
              <a:rPr lang="ru-RU" sz="2800" b="1" dirty="0"/>
              <a:t>Технологии</a:t>
            </a:r>
            <a:r>
              <a:rPr lang="ru-RU" sz="2800" dirty="0"/>
              <a:t>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C# (.NET 10.0)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WPF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MS SQL Server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Entity Framework Core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xUnit</a:t>
            </a:r>
            <a:endParaRPr lang="ru-RU" sz="28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079992A-23F8-8348-F969-4F477020F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7106" y="1755903"/>
            <a:ext cx="4805489" cy="5679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501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43C40B-388F-7F8B-06E1-2FE5218B5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2">
            <a:extLst>
              <a:ext uri="{FF2B5EF4-FFF2-40B4-BE49-F238E27FC236}">
                <a16:creationId xmlns:a16="http://schemas.microsoft.com/office/drawing/2014/main" id="{8738E651-733D-0AA9-BF20-3F6DF5428ABE}"/>
              </a:ext>
            </a:extLst>
          </p:cNvPr>
          <p:cNvSpPr/>
          <p:nvPr/>
        </p:nvSpPr>
        <p:spPr>
          <a:xfrm>
            <a:off x="761047" y="563922"/>
            <a:ext cx="5347335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800"/>
              </a:lnSpc>
            </a:pPr>
            <a:r>
              <a:rPr lang="ru-RU" sz="40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Окна приложения</a:t>
            </a:r>
            <a:endParaRPr lang="en-US" sz="4000" dirty="0">
              <a:cs typeface="Times New Roman" panose="02020603050405020304" pitchFamily="18" charset="0"/>
            </a:endParaRPr>
          </a:p>
        </p:txBody>
      </p:sp>
      <p:sp useBgFill="1">
        <p:nvSpPr>
          <p:cNvPr id="18" name="Прямоугольник 17">
            <a:extLst>
              <a:ext uri="{FF2B5EF4-FFF2-40B4-BE49-F238E27FC236}">
                <a16:creationId xmlns:a16="http://schemas.microsoft.com/office/drawing/2014/main" id="{0CA8DE68-FF0C-4F3E-064C-22FB1BB1E537}"/>
              </a:ext>
            </a:extLst>
          </p:cNvPr>
          <p:cNvSpPr/>
          <p:nvPr/>
        </p:nvSpPr>
        <p:spPr>
          <a:xfrm>
            <a:off x="12879658" y="7625283"/>
            <a:ext cx="1750741" cy="60431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FF953DCC-BEF7-0135-E9BA-84D195B45787}"/>
              </a:ext>
            </a:extLst>
          </p:cNvPr>
          <p:cNvSpPr/>
          <p:nvPr/>
        </p:nvSpPr>
        <p:spPr>
          <a:xfrm>
            <a:off x="761047" y="1205032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3333A2-F024-E976-FCAA-063ABB96CF08}"/>
              </a:ext>
            </a:extLst>
          </p:cNvPr>
          <p:cNvSpPr txBox="1"/>
          <p:nvPr/>
        </p:nvSpPr>
        <p:spPr>
          <a:xfrm>
            <a:off x="761047" y="1279756"/>
            <a:ext cx="450522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/>
              <a:t>Окно замера: </a:t>
            </a:r>
            <a:r>
              <a:rPr lang="ru-RU" sz="2800" dirty="0"/>
              <a:t>управление скважинами, ввод замеров, просмотр данных по месторождениям</a:t>
            </a:r>
          </a:p>
          <a:p>
            <a:r>
              <a:rPr lang="ru-RU" sz="2800" b="1" dirty="0"/>
              <a:t>Окно обслуживания: </a:t>
            </a:r>
            <a:r>
              <a:rPr lang="ru-RU" sz="2800" dirty="0"/>
              <a:t>просмотр скважин, регистрация выполненных работ, учёт технического обслуживания</a:t>
            </a:r>
          </a:p>
          <a:p>
            <a:r>
              <a:rPr lang="ru-RU" sz="2800" b="1" dirty="0"/>
              <a:t>Окно </a:t>
            </a:r>
            <a:r>
              <a:rPr lang="en-US" sz="2800" b="1" dirty="0"/>
              <a:t>API</a:t>
            </a:r>
            <a:r>
              <a:rPr lang="ru-RU" sz="2800" b="1" dirty="0"/>
              <a:t>:</a:t>
            </a:r>
          </a:p>
          <a:p>
            <a:r>
              <a:rPr lang="ru-RU" sz="2800" dirty="0"/>
              <a:t>Получение курса, цены и выручки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2D097C5-B730-7D10-65E2-8F09317403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9670" y="1567045"/>
            <a:ext cx="8283067" cy="485187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2BF7433-593B-167F-EB75-B0950644A2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9670" y="1593913"/>
            <a:ext cx="8269628" cy="4825005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CF4C7FE-B8CA-6659-76EA-D0A3EE07EA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3874" y="1593913"/>
            <a:ext cx="8561220" cy="4958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176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EE7FF-E660-D824-4354-D6D5EED1F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2">
            <a:extLst>
              <a:ext uri="{FF2B5EF4-FFF2-40B4-BE49-F238E27FC236}">
                <a16:creationId xmlns:a16="http://schemas.microsoft.com/office/drawing/2014/main" id="{69B112D7-5721-D876-A7A6-D4824F86DACF}"/>
              </a:ext>
            </a:extLst>
          </p:cNvPr>
          <p:cNvSpPr/>
          <p:nvPr/>
        </p:nvSpPr>
        <p:spPr>
          <a:xfrm>
            <a:off x="761047" y="563922"/>
            <a:ext cx="5347335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800"/>
              </a:lnSpc>
            </a:pPr>
            <a:r>
              <a:rPr lang="ru-RU" sz="40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Интеграция с </a:t>
            </a:r>
            <a:r>
              <a:rPr lang="en-US" sz="40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API</a:t>
            </a:r>
            <a:endParaRPr lang="en-US" sz="4000" dirty="0">
              <a:cs typeface="Times New Roman" panose="02020603050405020304" pitchFamily="18" charset="0"/>
            </a:endParaRPr>
          </a:p>
        </p:txBody>
      </p:sp>
      <p:sp useBgFill="1">
        <p:nvSpPr>
          <p:cNvPr id="18" name="Прямоугольник 17">
            <a:extLst>
              <a:ext uri="{FF2B5EF4-FFF2-40B4-BE49-F238E27FC236}">
                <a16:creationId xmlns:a16="http://schemas.microsoft.com/office/drawing/2014/main" id="{72382012-A527-0E85-ACDB-50A2AC58C9B7}"/>
              </a:ext>
            </a:extLst>
          </p:cNvPr>
          <p:cNvSpPr/>
          <p:nvPr/>
        </p:nvSpPr>
        <p:spPr>
          <a:xfrm>
            <a:off x="12879658" y="7625283"/>
            <a:ext cx="1750741" cy="60431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5BF95B8A-CFD2-E4DB-A514-FE65A9FDE365}"/>
              </a:ext>
            </a:extLst>
          </p:cNvPr>
          <p:cNvSpPr/>
          <p:nvPr/>
        </p:nvSpPr>
        <p:spPr>
          <a:xfrm>
            <a:off x="793789" y="1263721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047456-013C-A388-C472-A7F329B05D25}"/>
              </a:ext>
            </a:extLst>
          </p:cNvPr>
          <p:cNvSpPr txBox="1"/>
          <p:nvPr/>
        </p:nvSpPr>
        <p:spPr>
          <a:xfrm>
            <a:off x="761047" y="1394895"/>
            <a:ext cx="488484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API</a:t>
            </a:r>
            <a:r>
              <a:rPr lang="en-US" sz="2800" dirty="0"/>
              <a:t>: </a:t>
            </a:r>
            <a:r>
              <a:rPr lang="ru-RU" sz="2800" dirty="0"/>
              <a:t>Курс валют</a:t>
            </a:r>
          </a:p>
          <a:p>
            <a:endParaRPr lang="ru-RU" sz="2800" dirty="0"/>
          </a:p>
          <a:p>
            <a:r>
              <a:rPr lang="ru-RU" sz="2800" b="1" dirty="0"/>
              <a:t>Функционал</a:t>
            </a:r>
            <a:r>
              <a:rPr lang="ru-RU" sz="2800" dirty="0"/>
              <a:t>: получение актуального курса для расчёта стоимости добытого газа</a:t>
            </a:r>
          </a:p>
          <a:p>
            <a:endParaRPr lang="ru-RU" sz="2800" dirty="0"/>
          </a:p>
          <a:p>
            <a:r>
              <a:rPr lang="ru-RU" sz="2800" b="1" dirty="0"/>
              <a:t>Пример</a:t>
            </a:r>
            <a:r>
              <a:rPr lang="ru-RU" sz="2800" dirty="0"/>
              <a:t>: запрос </a:t>
            </a:r>
            <a:r>
              <a:rPr lang="en-US" sz="2800" dirty="0"/>
              <a:t>GET </a:t>
            </a:r>
            <a:r>
              <a:rPr lang="ru-RU" sz="2800" dirty="0"/>
              <a:t>– ответ с курсом </a:t>
            </a:r>
            <a:r>
              <a:rPr lang="en-US" sz="2800" dirty="0"/>
              <a:t>86.03 </a:t>
            </a:r>
            <a:r>
              <a:rPr lang="ru-RU" sz="2800" dirty="0"/>
              <a:t>за 1 доллар США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14B1A73-2233-E47B-D7E0-E0B84EE27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387" y="1726611"/>
            <a:ext cx="8016994" cy="582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7707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0F81A-3583-76A1-8DF5-081F42649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2">
            <a:extLst>
              <a:ext uri="{FF2B5EF4-FFF2-40B4-BE49-F238E27FC236}">
                <a16:creationId xmlns:a16="http://schemas.microsoft.com/office/drawing/2014/main" id="{79F2482A-C811-AECE-C0C3-7D87375E1B1F}"/>
              </a:ext>
            </a:extLst>
          </p:cNvPr>
          <p:cNvSpPr/>
          <p:nvPr/>
        </p:nvSpPr>
        <p:spPr>
          <a:xfrm>
            <a:off x="761047" y="563922"/>
            <a:ext cx="5347335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800"/>
              </a:lnSpc>
            </a:pPr>
            <a:r>
              <a:rPr lang="ru-RU" sz="40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Тестирование</a:t>
            </a:r>
            <a:endParaRPr lang="en-US" sz="4000" dirty="0">
              <a:cs typeface="Times New Roman" panose="02020603050405020304" pitchFamily="18" charset="0"/>
            </a:endParaRPr>
          </a:p>
        </p:txBody>
      </p:sp>
      <p:sp useBgFill="1"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095EAC4-665B-99D6-9AEB-DCDB841FFA4B}"/>
              </a:ext>
            </a:extLst>
          </p:cNvPr>
          <p:cNvSpPr/>
          <p:nvPr/>
        </p:nvSpPr>
        <p:spPr>
          <a:xfrm>
            <a:off x="12879658" y="7625283"/>
            <a:ext cx="1750741" cy="60431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215ADFBF-A7AC-B59F-A8B0-0BA8104B7BC8}"/>
              </a:ext>
            </a:extLst>
          </p:cNvPr>
          <p:cNvSpPr/>
          <p:nvPr/>
        </p:nvSpPr>
        <p:spPr>
          <a:xfrm>
            <a:off x="761047" y="1205032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A13E4A-C12E-AB76-7DD6-0AC606B905B9}"/>
              </a:ext>
            </a:extLst>
          </p:cNvPr>
          <p:cNvSpPr txBox="1"/>
          <p:nvPr/>
        </p:nvSpPr>
        <p:spPr>
          <a:xfrm>
            <a:off x="761047" y="1423337"/>
            <a:ext cx="4243215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/>
              <a:t>Модульное тестирование</a:t>
            </a:r>
            <a:r>
              <a:rPr lang="ru-RU" sz="2400" dirty="0"/>
              <a:t>: проверка аутентификации пользователей, валидации данных скважин и замеров, расчёта выручки </a:t>
            </a:r>
          </a:p>
          <a:p>
            <a:r>
              <a:rPr lang="en-US" sz="2400" dirty="0" err="1"/>
              <a:t>xUnit</a:t>
            </a:r>
            <a:r>
              <a:rPr lang="ru-RU" sz="2400" dirty="0"/>
              <a:t>(</a:t>
            </a:r>
            <a:r>
              <a:rPr lang="en-US" sz="2400" dirty="0"/>
              <a:t>12</a:t>
            </a:r>
            <a:r>
              <a:rPr lang="ru-RU" sz="2400" dirty="0"/>
              <a:t> тестов)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2400" dirty="0"/>
          </a:p>
          <a:p>
            <a:r>
              <a:rPr lang="ru-RU" sz="2400" b="1" dirty="0"/>
              <a:t>Интеграционное тестирование</a:t>
            </a:r>
            <a:r>
              <a:rPr lang="ru-RU" sz="2400" dirty="0"/>
              <a:t>: проверка полного цикла работы со скважинами и </a:t>
            </a:r>
            <a:r>
              <a:rPr lang="en-US" sz="2400" dirty="0"/>
              <a:t>API </a:t>
            </a:r>
            <a:r>
              <a:rPr lang="ru-RU" sz="2400" dirty="0"/>
              <a:t>курса валют (6 тестов)</a:t>
            </a:r>
          </a:p>
          <a:p>
            <a:endParaRPr lang="ru-RU" sz="2400" dirty="0"/>
          </a:p>
          <a:p>
            <a:r>
              <a:rPr lang="ru-RU" sz="2400" b="1" dirty="0"/>
              <a:t>Результат</a:t>
            </a:r>
            <a:r>
              <a:rPr lang="ru-RU" sz="2400" dirty="0"/>
              <a:t>: все тесты пройдены успешно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29E8629-1412-03EC-08B0-EBDD61742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1469" y="2408653"/>
            <a:ext cx="8495723" cy="4048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929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DBADD-5A41-E6EF-A0C4-C66C52AC8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2">
            <a:extLst>
              <a:ext uri="{FF2B5EF4-FFF2-40B4-BE49-F238E27FC236}">
                <a16:creationId xmlns:a16="http://schemas.microsoft.com/office/drawing/2014/main" id="{9893F919-E50B-2194-9965-AB5BF1AB1A29}"/>
              </a:ext>
            </a:extLst>
          </p:cNvPr>
          <p:cNvSpPr/>
          <p:nvPr/>
        </p:nvSpPr>
        <p:spPr>
          <a:xfrm>
            <a:off x="761047" y="563922"/>
            <a:ext cx="5347335" cy="487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800"/>
              </a:lnSpc>
            </a:pPr>
            <a:r>
              <a:rPr lang="ru-RU" sz="4000" dirty="0">
                <a:solidFill>
                  <a:srgbClr val="161613"/>
                </a:solidFill>
                <a:ea typeface="DM Sans Medium" pitchFamily="34" charset="-122"/>
                <a:cs typeface="Times New Roman" panose="02020603050405020304" pitchFamily="18" charset="0"/>
              </a:rPr>
              <a:t>Инструменты и технологии</a:t>
            </a:r>
            <a:endParaRPr lang="en-US" sz="4000" dirty="0">
              <a:cs typeface="Times New Roman" panose="02020603050405020304" pitchFamily="18" charset="0"/>
            </a:endParaRPr>
          </a:p>
        </p:txBody>
      </p:sp>
      <p:sp useBgFill="1">
        <p:nvSpPr>
          <p:cNvPr id="18" name="Прямоугольник 17">
            <a:extLst>
              <a:ext uri="{FF2B5EF4-FFF2-40B4-BE49-F238E27FC236}">
                <a16:creationId xmlns:a16="http://schemas.microsoft.com/office/drawing/2014/main" id="{5EE39D05-8735-05D3-A430-49B0EDA90EE1}"/>
              </a:ext>
            </a:extLst>
          </p:cNvPr>
          <p:cNvSpPr/>
          <p:nvPr/>
        </p:nvSpPr>
        <p:spPr>
          <a:xfrm>
            <a:off x="12879658" y="7625283"/>
            <a:ext cx="1750741" cy="60431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F69C8D1A-CF89-B3AF-210D-715AEB6E2FB1}"/>
              </a:ext>
            </a:extLst>
          </p:cNvPr>
          <p:cNvSpPr/>
          <p:nvPr/>
        </p:nvSpPr>
        <p:spPr>
          <a:xfrm>
            <a:off x="761047" y="1205032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70CA8D-896C-7180-318D-B988847F5B33}"/>
              </a:ext>
            </a:extLst>
          </p:cNvPr>
          <p:cNvSpPr txBox="1"/>
          <p:nvPr/>
        </p:nvSpPr>
        <p:spPr>
          <a:xfrm>
            <a:off x="628043" y="1334581"/>
            <a:ext cx="865417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Мною были использованы следующие технологии: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325FD176-1B33-063D-B573-26CBB24EDA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7895705"/>
              </p:ext>
            </p:extLst>
          </p:nvPr>
        </p:nvGraphicFramePr>
        <p:xfrm>
          <a:off x="1355840" y="2466753"/>
          <a:ext cx="11079999" cy="509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05614">
                  <a:extLst>
                    <a:ext uri="{9D8B030D-6E8A-4147-A177-3AD203B41FA5}">
                      <a16:colId xmlns:a16="http://schemas.microsoft.com/office/drawing/2014/main" val="389729105"/>
                    </a:ext>
                  </a:extLst>
                </a:gridCol>
                <a:gridCol w="5974385">
                  <a:extLst>
                    <a:ext uri="{9D8B030D-6E8A-4147-A177-3AD203B41FA5}">
                      <a16:colId xmlns:a16="http://schemas.microsoft.com/office/drawing/2014/main" val="1177294632"/>
                    </a:ext>
                  </a:extLst>
                </a:gridCol>
              </a:tblGrid>
              <a:tr h="32316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Компонент</a:t>
                      </a:r>
                    </a:p>
                  </a:txBody>
                  <a:tcPr marL="7620" marR="7620" marT="7620" marB="0" anchor="b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Технология</a:t>
                      </a:r>
                    </a:p>
                  </a:txBody>
                  <a:tcPr marL="7620" marR="7620" marT="7620" marB="0" anchor="b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966511"/>
                  </a:ext>
                </a:extLst>
              </a:tr>
              <a:tr h="6486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Язык программирования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C# (.NET 10.0)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682706820"/>
                  </a:ext>
                </a:extLst>
              </a:tr>
              <a:tr h="6486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Фреймворк UI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WPF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687731282"/>
                  </a:ext>
                </a:extLst>
              </a:tr>
              <a:tr h="6486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База данных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MS SQL Server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44003709"/>
                  </a:ext>
                </a:extLst>
              </a:tr>
              <a:tr h="6486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Среда разработки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Visual Studio 2026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62653917"/>
                  </a:ext>
                </a:extLst>
              </a:tr>
              <a:tr h="6486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СУБД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SQL Server Management Studio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904192623"/>
                  </a:ext>
                </a:extLst>
              </a:tr>
              <a:tr h="6486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Контроль версий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Git / GitHub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213112434"/>
                  </a:ext>
                </a:extLst>
              </a:tr>
              <a:tr h="6486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ru-RU" sz="36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API</a:t>
                      </a: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Open API (</a:t>
                      </a:r>
                      <a:r>
                        <a:rPr lang="ru-RU" sz="3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Курсы валют)</a:t>
                      </a: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735283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69091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17250AC-0432-CEA8-658B-62B3EEF0F202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76B5A554-C9E3-8763-05BD-CC2D06A4F391}"/>
              </a:ext>
            </a:extLst>
          </p:cNvPr>
          <p:cNvSpPr/>
          <p:nvPr/>
        </p:nvSpPr>
        <p:spPr>
          <a:xfrm>
            <a:off x="694611" y="628949"/>
            <a:ext cx="515671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161613"/>
                </a:solidFill>
                <a:latin typeface="Times New Roman" panose="02020603050405020304" pitchFamily="18" charset="0"/>
                <a:ea typeface="DM Sans Medium" pitchFamily="34" charset="-122"/>
                <a:cs typeface="Times New Roman" panose="02020603050405020304" pitchFamily="18" charset="0"/>
              </a:rPr>
              <a:t>Результаты практики</a:t>
            </a:r>
            <a:endParaRPr lang="en-US" sz="3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1">
            <a:extLst>
              <a:ext uri="{FF2B5EF4-FFF2-40B4-BE49-F238E27FC236}">
                <a16:creationId xmlns:a16="http://schemas.microsoft.com/office/drawing/2014/main" id="{01E70212-BAC8-36F8-2F53-A63B5C5ABAC0}"/>
              </a:ext>
            </a:extLst>
          </p:cNvPr>
          <p:cNvSpPr/>
          <p:nvPr/>
        </p:nvSpPr>
        <p:spPr>
          <a:xfrm>
            <a:off x="694610" y="1322786"/>
            <a:ext cx="13042821" cy="35957"/>
          </a:xfrm>
          <a:prstGeom prst="rect">
            <a:avLst/>
          </a:prstGeom>
          <a:solidFill>
            <a:srgbClr val="161613">
              <a:alpha val="50000"/>
            </a:srgbClr>
          </a:solidFill>
          <a:ln/>
        </p:spPr>
        <p:txBody>
          <a:bodyPr/>
          <a:lstStyle/>
          <a:p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EA8B48-DBC6-B1E4-57BD-DC944B16AFC9}"/>
              </a:ext>
            </a:extLst>
          </p:cNvPr>
          <p:cNvSpPr txBox="1"/>
          <p:nvPr/>
        </p:nvSpPr>
        <p:spPr>
          <a:xfrm>
            <a:off x="694611" y="1875690"/>
            <a:ext cx="1003364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этой практике я научился:</a:t>
            </a:r>
          </a:p>
          <a:p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Проектировать базу данных, строить ERD и UML - диаграммы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Разрабатывать настольные WPF-приложения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Реализовывать CRUD-операции и обрабатывать исключительные ситуации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Интегрировать внешние API и работать с ними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Проводить модульное и интеграционное тестирование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Оформлять техническую документацию</a:t>
            </a:r>
          </a:p>
          <a:p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Все цели и задачи практики выполнены в полном объёме.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Прямоугольник 2">
            <a:extLst>
              <a:ext uri="{FF2B5EF4-FFF2-40B4-BE49-F238E27FC236}">
                <a16:creationId xmlns:a16="http://schemas.microsoft.com/office/drawing/2014/main" id="{39E2F41E-0D3C-3B90-65B8-E164A5CDC9F0}"/>
              </a:ext>
            </a:extLst>
          </p:cNvPr>
          <p:cNvSpPr/>
          <p:nvPr/>
        </p:nvSpPr>
        <p:spPr>
          <a:xfrm>
            <a:off x="12879658" y="7805854"/>
            <a:ext cx="1750741" cy="42374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7AF70F-1469-B04F-3F73-04E088765A9E}"/>
              </a:ext>
            </a:extLst>
          </p:cNvPr>
          <p:cNvSpPr txBox="1"/>
          <p:nvPr/>
        </p:nvSpPr>
        <p:spPr>
          <a:xfrm>
            <a:off x="3657599" y="7061142"/>
            <a:ext cx="7315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/>
              <a:t>QR-</a:t>
            </a:r>
            <a:r>
              <a:rPr lang="en-US" sz="2400" dirty="0"/>
              <a:t>Code </a:t>
            </a:r>
            <a:r>
              <a:rPr lang="ru-RU" sz="2400" dirty="0"/>
              <a:t>на репозиторий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26F9894-BF3D-8C33-C531-DC4147D51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0552" y="706793"/>
            <a:ext cx="6289295" cy="6111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1308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287</TotalTime>
  <Words>477</Words>
  <Application>Microsoft Office PowerPoint</Application>
  <PresentationFormat>Произвольный</PresentationFormat>
  <Paragraphs>122</Paragraphs>
  <Slides>11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9" baseType="lpstr">
      <vt:lpstr>Arial</vt:lpstr>
      <vt:lpstr>Calibri</vt:lpstr>
      <vt:lpstr>Century Gothic</vt:lpstr>
      <vt:lpstr>DM Sans Medium</vt:lpstr>
      <vt:lpstr>Inter</vt:lpstr>
      <vt:lpstr>Times New Roman</vt:lpstr>
      <vt:lpstr>Wingdings 3</vt:lpstr>
      <vt:lpstr>Ион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lastModifiedBy>m3poo **</cp:lastModifiedBy>
  <cp:revision>58</cp:revision>
  <dcterms:created xsi:type="dcterms:W3CDTF">2026-04-20T09:20:00Z</dcterms:created>
  <dcterms:modified xsi:type="dcterms:W3CDTF">2026-08-31T02:24:43Z</dcterms:modified>
</cp:coreProperties>
</file>